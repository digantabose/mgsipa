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2"/>
  </p:notesMasterIdLst>
  <p:sldIdLst>
    <p:sldId id="257" r:id="rId3"/>
    <p:sldId id="260" r:id="rId4"/>
    <p:sldId id="261" r:id="rId5"/>
    <p:sldId id="259" r:id="rId6"/>
    <p:sldId id="262" r:id="rId7"/>
    <p:sldId id="258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85" r:id="rId34"/>
    <p:sldId id="293" r:id="rId35"/>
    <p:sldId id="291" r:id="rId36"/>
    <p:sldId id="292" r:id="rId37"/>
    <p:sldId id="294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81462" autoAdjust="0"/>
  </p:normalViewPr>
  <p:slideViewPr>
    <p:cSldViewPr snapToGrid="0">
      <p:cViewPr varScale="1">
        <p:scale>
          <a:sx n="61" d="100"/>
          <a:sy n="61" d="100"/>
        </p:scale>
        <p:origin x="10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AE3E3-3E5B-4C91-BA3A-A55783D4EAB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0CDA3-BC0A-4709-8001-646067D1D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3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minutes.</a:t>
            </a:r>
          </a:p>
          <a:p>
            <a:r>
              <a:t>Invite 3 to 4 responses. Likely answers include source, evidence, previous experience and confidence.</a:t>
            </a:r>
          </a:p>
          <a:p>
            <a:r>
              <a:t>Do not correct the room immediately. Use the answers to introduce the central problem: AI can produce persuasive language without guaranteeing truth or suitability.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minutes.</a:t>
            </a:r>
          </a:p>
          <a:p>
            <a:r>
              <a:t>This is the logic of the whole session.</a:t>
            </a:r>
          </a:p>
          <a:p>
            <a:r>
              <a:t>The presentation is not anti-AI. It is about matching AI use to educational purpose, risk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minute.</a:t>
            </a:r>
          </a:p>
          <a:p>
            <a:r>
              <a:t>Introduce these as the four lenses used throughout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minutes.</a:t>
            </a:r>
          </a:p>
          <a:p>
            <a:r>
              <a:t>Define hallucination operationally: an AI system can produce unsupported or false information in a plausible form.</a:t>
            </a:r>
          </a:p>
          <a:p>
            <a:r>
              <a:t>The practical danger is not obvious nonsense. It is persuasive text that is wrong in subtle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minutes.</a:t>
            </a:r>
          </a:p>
          <a:p>
            <a:r>
              <a:t>A blanket “AI equals cheating” rule is too crude.</a:t>
            </a:r>
          </a:p>
          <a:p>
            <a:r>
              <a:t>Different assignments can legitimately permit different levels of AI assistance. The key is whether the use is compatible with the learning objective and the institution’s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minutes.</a:t>
            </a:r>
          </a:p>
          <a:p>
            <a:r>
              <a:t>Do not claim all AI detectors are useless. Say instead that a detector score should not be treated as definitive proof of misconduct.</a:t>
            </a:r>
          </a:p>
          <a:p>
            <a:r>
              <a:t>Assessment design can generate stronger evidence about learning and authorship.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minutes.</a:t>
            </a:r>
          </a:p>
          <a:p>
            <a:r>
              <a:t>Be careful: the UGC regulations predate generative AI and are not an AI-specific policy.</a:t>
            </a:r>
          </a:p>
          <a:p>
            <a:r>
              <a:t>Their relevance is the underlying principle of intellectual honesty. Institutions need to interpret that principle for contemporary AI-assisted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minutes.</a:t>
            </a:r>
          </a:p>
          <a:p>
            <a:r>
              <a:t>Governance requirements should scale with consequence and reach.</a:t>
            </a:r>
          </a:p>
          <a:p>
            <a:r>
              <a:t>A personal drafting use is a different governance problem from deploying a system across thousands of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minutes.</a:t>
            </a:r>
          </a:p>
          <a:p>
            <a:r>
              <a:t>Ask participants which of these questions their institution has already answered.</a:t>
            </a:r>
          </a:p>
          <a:p>
            <a:r>
              <a:t>This slide converts “AI ethics” into concrete governance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minutes.</a:t>
            </a:r>
          </a:p>
          <a:p>
            <a:r>
              <a:t>Present UNESCO as an international reference, not as Indian law.</a:t>
            </a:r>
          </a:p>
          <a:p>
            <a:r>
              <a:t>Its guidance emphasizes human-centred, ethical, safe, equitable and meaningful use, along with privacy and institutional preparedness.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4DE31-885D-4AD2-3B6C-C543EA8C6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F9622-00BB-96C5-AE2D-5D370385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22C09-7DBC-1021-35F7-36AFDCEF7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DD925-7C7D-9386-EF90-72ED0296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F5D80-ACC5-68A1-868F-160A9E65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E645-CF6C-5AEA-0D3B-093DABA4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8D446-02D7-2D73-CD04-FEA51E6D7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CF95B-0CCD-515B-AB18-D600C8C6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7BD1-3930-CF12-28DE-0C660453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B7A23-514F-56ED-ABE6-907210AA2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3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B8CDF-A4B0-BC6A-B01C-1BA0F546A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5C617-7A0D-9F9A-4813-41D98A61E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848-08B8-4A83-ABEF-BDBA3CF1C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D191B-EF82-B88F-2E08-17D73E5D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BEF3B-1C73-3993-12BF-91212F6B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1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28BE-17CE-F4F8-2B23-A04BA103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8992-829E-9E66-C9D9-3D1B5684E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4CB3D-FA40-FD83-AE76-428828CE0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62FB0-7B10-67C1-C6EB-CA218D92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7C5B8-963C-58D3-957B-25BBA121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BFFC9-8616-9D4D-EE27-7B99152B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6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5BB8C-BAA4-4C9E-5662-4650F29F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153DB-64C9-0A92-4323-59C3F6E59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5B016-7B1F-1E3E-ADF0-0106BDF23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351F9-7782-5E70-40B2-88A8DFCD1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F4653-BD82-1BF6-3F3D-C97C9DC97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D9422-A331-0C5C-7A8A-B591DC74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98DD4-AE71-E062-E46B-8CEB24F6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1E191-82D6-E978-22ED-1971A04B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1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33F1-2796-3540-0B4F-F2C6A18B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28A21-F263-1E68-9734-B7C893B2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A54EC-D37F-CF16-D933-031B39AC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25231-40F3-EDC0-FF0E-81FE64BC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3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869E-B310-52CE-4A50-4AED9A09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BD297-98D7-D00C-9D5B-5F5B39CA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DEB8F-A3F7-6E71-1AB3-DD822E2C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6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D71D-25A1-4115-3454-C184C929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6490-EC53-A708-B285-1778CFA9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7C336-D80D-BFB8-060A-69A0757BA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706A3-2735-A142-4051-96DAAEED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09979-7815-5CAC-4C84-E03E231A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C12B2-D1AC-3ACA-7F8C-4857DCF6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2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ADE6-FBEA-187E-F164-EE27D1CB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ED5DA-3FD7-F20C-1E6E-C052A6B8A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BA6B0-278E-423B-29AF-58A9A15B9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3BBA8-FBAF-CC47-B76D-93215ABC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ADB05-817E-8459-F57F-8B649D58F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F1DDC-5544-2E89-267B-EBC46E2F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3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ED6F-CF01-0454-03BD-63CA2961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93FD-AEFE-3A46-991E-06240F6A0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C36E-F639-FDF6-3617-05665B84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38E8-7D45-2F96-8673-BD580660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3CBCB-C414-ABF3-078B-5D1D8A99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3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78123-0426-3BBD-3DE3-267D7D1AC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1BBCB-F816-51B3-B93C-E8F06130D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A91A3-4444-CB6D-3D69-14C039C21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6DEAC-7A0A-3C18-10E8-3311E13F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39C54-B27D-E0FA-660F-42DE2A73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8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45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591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9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DB3A6-588B-DBCC-5989-277B419B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9C651-1D9E-FAC8-0A68-015E6EE40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9EEB8-6776-F257-6954-4E71811CC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C9871-A1A8-46CF-99FA-49ABF9DCE7B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F25FC-B651-3D7F-559C-2AD1CC4A1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C617-84C5-AD3E-1F0E-FAEAD1F00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A1186-F9A7-4C6B-83EB-3C123980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5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50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SEPTEMBER 2026   ·   MGSIPA, CHANDIGARH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11008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 Caution While Using AI in Education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51983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Ethics, Integrity &amp; Governance Issues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356020"/>
            <a:ext cx="201168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5846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Shuvendu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Bose Diganta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FB4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9966960" cy="2926080"/>
          </a:xfrm>
          <a:prstGeom prst="roundRect">
            <a:avLst>
              <a:gd name="adj" fmla="val 3750"/>
            </a:avLst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554480" y="246888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How many of you have already used a chatbot like ChatGPT or Gemini — even once?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544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A9D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wrong answers. Just curious.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400" b="1">
                <a:solidFill>
                  <a:srgbClr val="121F31"/>
                </a:solidFill>
                <a:latin typeface="Aptos"/>
              </a:defRPr>
            </a:pPr>
            <a:r>
              <a:rPr dirty="0"/>
              <a:t>If an AI system gives you an answer that looks completely correct,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3400" b="1">
                <a:solidFill>
                  <a:srgbClr val="255B91"/>
                </a:solidFill>
                <a:latin typeface="Aptos Display"/>
              </a:defRPr>
            </a:pPr>
            <a:r>
              <a:t>what makes you trust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977639"/>
            <a:ext cx="2423160" cy="1234440"/>
          </a:xfrm>
          <a:prstGeom prst="roundRect">
            <a:avLst/>
          </a:prstGeom>
          <a:solidFill>
            <a:srgbClr val="E8F0F9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20240" y="3977639"/>
            <a:ext cx="59436" cy="1234440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21408" y="4133087"/>
            <a:ext cx="203911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590288"/>
            <a:ext cx="2039112" cy="484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20262E"/>
                </a:solidFill>
                <a:latin typeface="Aptos"/>
              </a:defRPr>
            </a:pPr>
            <a:r>
              <a:t>Where did the answer come from?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977639"/>
            <a:ext cx="2423160" cy="1234440"/>
          </a:xfrm>
          <a:prstGeom prst="roundRect">
            <a:avLst/>
          </a:prstGeom>
          <a:solidFill>
            <a:srgbClr val="E8F3E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92040" y="3977639"/>
            <a:ext cx="59436" cy="1234440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93207" y="4133087"/>
            <a:ext cx="203911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4590288"/>
            <a:ext cx="2039112" cy="484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20262E"/>
                </a:solidFill>
                <a:latin typeface="Aptos"/>
              </a:defRPr>
            </a:pPr>
            <a:r>
              <a:t>Can the claim be checked?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977639"/>
            <a:ext cx="2423160" cy="1234440"/>
          </a:xfrm>
          <a:prstGeom prst="roundRect">
            <a:avLst/>
          </a:prstGeom>
          <a:solidFill>
            <a:srgbClr val="F9F3E2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0" y="3977639"/>
            <a:ext cx="59436" cy="1234440"/>
          </a:xfrm>
          <a:prstGeom prst="rect">
            <a:avLst/>
          </a:prstGeom>
          <a:solidFill>
            <a:srgbClr val="A67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65008" y="4133087"/>
            <a:ext cx="203911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1"/>
                </a:solidFill>
                <a:latin typeface="Aptos"/>
              </a:defRPr>
            </a:pPr>
            <a: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4590288"/>
            <a:ext cx="2039112" cy="484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20262E"/>
                </a:solidFill>
                <a:latin typeface="Aptos"/>
              </a:defRPr>
            </a:pPr>
            <a:r>
              <a:t>Who owns the decision?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ground reality in Indian schools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B4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7280" y="3429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schools have functional computers for teaching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434840" y="2286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B4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709160" y="3429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schools have internet connectivity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0" y="2286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B4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94,000+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321040" y="3429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schools still have no electricity at all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C6F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UDISE+ 2024–25, Ministry of Education, Government of India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9A9D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ground we're building AI-readiness 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028950"/>
            <a:ext cx="528637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sz="10500" b="1" i="0" u="none" dirty="0">
                <a:solidFill>
                  <a:srgbClr val="D97706"/>
                </a:solidFill>
                <a:latin typeface="Poppins"/>
              </a:rPr>
              <a:t>86%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45770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Lato"/>
              </a:rPr>
              <a:t>Student AI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924175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Recent data from the Digital Education Council's Global AI Student Survey (2024) indicates that 86% of students globally already utilize generative AI in their studies.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924300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34155"/>
                </a:solidFill>
                <a:latin typeface="Lato"/>
              </a:rPr>
              <a:t>However, fewer than 15% of Indian institutions have updated their academic integrity policies or data privacy guidelines to reflect this reality, creating a massive governance vacuum.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 i="0" u="none" dirty="0">
                <a:solidFill>
                  <a:srgbClr val="00205B"/>
                </a:solidFill>
                <a:latin typeface="Montserrat"/>
              </a:rPr>
              <a:t>The Genie is Out of the Bottle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The central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200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255B91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828800"/>
            <a:ext cx="6400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500" b="1">
                <a:solidFill>
                  <a:srgbClr val="717B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828800"/>
            <a:ext cx="3200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A93939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828800"/>
            <a:ext cx="6400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500" b="1">
                <a:solidFill>
                  <a:srgbClr val="717B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200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32704D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06040"/>
            <a:ext cx="3200400" cy="2468880"/>
          </a:xfrm>
          <a:prstGeom prst="roundRect">
            <a:avLst/>
          </a:prstGeom>
          <a:solidFill>
            <a:srgbClr val="E8F0F9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606040"/>
            <a:ext cx="59436" cy="2468880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761488"/>
            <a:ext cx="281635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AI 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18688"/>
            <a:ext cx="2816352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rPr dirty="0"/>
              <a:t>Generate, summarize, translate, explain, brainstorm and provide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606040"/>
            <a:ext cx="3200400" cy="246888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2606040"/>
            <a:ext cx="59436" cy="2468880"/>
          </a:xfrm>
          <a:prstGeom prst="rect">
            <a:avLst/>
          </a:prstGeom>
          <a:solidFill>
            <a:srgbClr val="A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2761488"/>
            <a:ext cx="281635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AI can also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218688"/>
            <a:ext cx="2816352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t>Hallucinate, reproduce bias, expose sensitive data and encourage overreliance.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606040"/>
            <a:ext cx="3200400" cy="2468880"/>
          </a:xfrm>
          <a:prstGeom prst="roundRect">
            <a:avLst/>
          </a:prstGeom>
          <a:solidFill>
            <a:srgbClr val="E8F3E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2606040"/>
            <a:ext cx="59436" cy="2468880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8" y="2761488"/>
            <a:ext cx="281635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Therefore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218688"/>
            <a:ext cx="2816352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t>Use AI selectively, verify important outputs and keep humans accountable.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97280" y="2194560"/>
            <a:ext cx="9966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400" dirty="0">
                <a:solidFill>
                  <a:srgbClr val="9A9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isn't whether AI enters our classroom.
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already has.
</a:t>
            </a:r>
            <a:r>
              <a:rPr lang="en-US" sz="3400" dirty="0">
                <a:solidFill>
                  <a:srgbClr val="9A9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is whether </a:t>
            </a:r>
            <a:r>
              <a:rPr lang="en-US" sz="340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ready to govern it.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Four questions every institution should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60604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59436" cy="3429000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222199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1"/>
                </a:solidFill>
                <a:latin typeface="Aptos"/>
              </a:defRPr>
            </a:pPr>
            <a:r>
              <a:t>01 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41448"/>
            <a:ext cx="2221992" cy="2679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t>Can we rely on the output?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60604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59436" cy="3429000"/>
          </a:xfrm>
          <a:prstGeom prst="rect">
            <a:avLst/>
          </a:prstGeom>
          <a:solidFill>
            <a:srgbClr val="A67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1984248"/>
            <a:ext cx="222199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1"/>
                </a:solidFill>
                <a:latin typeface="Aptos"/>
              </a:defRPr>
            </a:pPr>
            <a:r>
              <a:t>02  ETHICS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441448"/>
            <a:ext cx="2221992" cy="2679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t>Is the use fair and appropriate?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60604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828800"/>
            <a:ext cx="59436" cy="3429000"/>
          </a:xfrm>
          <a:prstGeom prst="rect">
            <a:avLst/>
          </a:prstGeom>
          <a:solidFill>
            <a:srgbClr val="A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1984248"/>
            <a:ext cx="222199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1"/>
                </a:solidFill>
                <a:latin typeface="Aptos"/>
              </a:defRPr>
            </a:pPr>
            <a:r>
              <a:t>03 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441448"/>
            <a:ext cx="2221992" cy="2679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t>Does it preserve intellectual honesty and learning?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60604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59436" cy="3429000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36608" y="1984248"/>
            <a:ext cx="222199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1"/>
                </a:solidFill>
                <a:latin typeface="Aptos"/>
              </a:defRPr>
            </a:pPr>
            <a:r>
              <a:t>04 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441448"/>
            <a:ext cx="2221992" cy="2679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t>Who sets boundaries and remains accountable?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1371600" cy="1371600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7157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32888" y="25146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19750" y="1755427"/>
            <a:ext cx="952500" cy="38100"/>
          </a:xfrm>
          <a:prstGeom prst="rect">
            <a:avLst/>
          </a:prstGeom>
          <a:solidFill>
            <a:srgbClr val="C4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5300" y="2174527"/>
            <a:ext cx="11201400" cy="2228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FFFFFF"/>
                </a:solidFill>
                <a:latin typeface="Montserrat ExtraBold"/>
              </a:rPr>
              <a:t>Challenge 1:</a:t>
            </a:r>
            <a:r>
              <a:t>
</a:t>
            </a:r>
            <a:r>
              <a:rPr sz="4800" b="0" i="0" u="none">
                <a:solidFill>
                  <a:srgbClr val="FFFFFF"/>
                </a:solidFill>
                <a:latin typeface="Montserrat ExtraBold"/>
              </a:rPr>
              <a:t> Hallucinations &amp; Administrative 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4287" y="4593877"/>
            <a:ext cx="45434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Lato"/>
              </a:rPr>
              <a:t>Why we cannot trust AI to write official policy.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1">
                <a:solidFill>
                  <a:srgbClr val="255B9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Fluent output is not verified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337560" cy="3566160"/>
          </a:xfrm>
          <a:prstGeom prst="roundRect">
            <a:avLst/>
          </a:prstGeom>
          <a:solidFill>
            <a:srgbClr val="E8F0F9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59436" cy="3566160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295351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What users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2953512" cy="2816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0">
                <a:solidFill>
                  <a:srgbClr val="20262E"/>
                </a:solidFill>
                <a:latin typeface="Aptos"/>
              </a:defRPr>
            </a:pPr>
            <a:r>
              <a:t>Clear prose</a:t>
            </a:r>
            <a:br/>
            <a:r>
              <a:t>Confident tone</a:t>
            </a:r>
            <a:br/>
            <a:r>
              <a:t>Structured answer</a:t>
            </a:r>
            <a:br/>
            <a:r>
              <a:t>References that look credible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880360"/>
            <a:ext cx="8229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3800" b="1">
                <a:solidFill>
                  <a:srgbClr val="A93939"/>
                </a:solidFill>
                <a:latin typeface="Aptos"/>
              </a:defRPr>
            </a:pPr>
            <a:r>
              <a:t>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783080"/>
            <a:ext cx="5486400" cy="356616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66360" y="1783080"/>
            <a:ext cx="59436" cy="3566160"/>
          </a:xfrm>
          <a:prstGeom prst="rect">
            <a:avLst/>
          </a:prstGeom>
          <a:solidFill>
            <a:srgbClr val="A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67528" y="1938528"/>
            <a:ext cx="510235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What still needs checking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395728"/>
            <a:ext cx="5102352" cy="2816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0">
                <a:solidFill>
                  <a:srgbClr val="20262E"/>
                </a:solidFill>
                <a:latin typeface="Aptos"/>
              </a:defRPr>
            </a:pPr>
            <a:r>
              <a:t>Factual accuracy</a:t>
            </a:r>
            <a:br/>
            <a:r>
              <a:t>Source authenticity</a:t>
            </a:r>
            <a:br/>
            <a:r>
              <a:t>Context and date</a:t>
            </a:r>
            <a:br/>
            <a:r>
              <a:t>Evidence behind the claim</a:t>
            </a:r>
            <a:br/>
            <a:r>
              <a:t>Suitability for the decision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66850"/>
            <a:ext cx="50482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66850"/>
            <a:ext cx="53006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1" u="none">
                <a:solidFill>
                  <a:srgbClr val="00205B"/>
                </a:solidFill>
                <a:latin typeface="Montserrat"/>
              </a:rPr>
              <a:t>Mata v. Avianca Airlines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33575"/>
            <a:ext cx="5048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3333"/>
                </a:solidFill>
                <a:latin typeface="Lato"/>
              </a:rPr>
              <a:t>In a incident, a licensed attorney used ChatGPT to draft a legal brief. The AI generated a flawless, highly persuasive document citing six specific prior court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90850"/>
            <a:ext cx="5048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Lato"/>
              </a:rPr>
              <a:t>The Reality:</a:t>
            </a:r>
            <a:r>
              <a:rPr sz="1500" b="0" i="0" u="none">
                <a:solidFill>
                  <a:srgbClr val="333333"/>
                </a:solidFill>
                <a:latin typeface="Lato"/>
              </a:rPr>
              <a:t> None of the cases existed. The AI completely fabricated the rulings, docket numbers, and quotes. The lawyer faced severe sanctions and professional disgrace.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48125"/>
            <a:ext cx="5048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05B"/>
                </a:solidFill>
                <a:latin typeface="Lato"/>
              </a:rPr>
              <a:t>Takeaway for Educators: LLMs are predictive text engines, not factual databases. They aim to sound plausible, not truthful.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66850"/>
            <a:ext cx="504825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05B"/>
                </a:solidFill>
                <a:latin typeface="Montserrat"/>
              </a:rPr>
              <a:t>Case Study: The Cost of Blind Trust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6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466850"/>
            <a:ext cx="53006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205B"/>
                </a:solidFill>
                <a:latin typeface="Montserrat"/>
              </a:rPr>
              <a:t>Testing the Limits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33575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3333"/>
                </a:solidFill>
                <a:latin typeface="Lato"/>
              </a:rPr>
              <a:t>We will now ask an AI to draft an official state warning letter regarding a highly specific regulatory issue.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686050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Watch as the AI invents non-existent legal precedents, state circulars, and regulatory mandates with absolute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1750" y="1657350"/>
            <a:ext cx="504825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67500" y="1943100"/>
            <a:ext cx="4476750" cy="207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C4A25A"/>
                </a:solidFill>
                <a:latin typeface="Courier New"/>
              </a:rPr>
              <a:t>Prompt:</a:t>
            </a:r>
            <a:r>
              <a:rPr sz="1350" b="0" i="0" u="none" dirty="0">
                <a:solidFill>
                  <a:srgbClr val="333333"/>
                </a:solidFill>
                <a:latin typeface="Courier New"/>
              </a:rPr>
              <a:t> "Draft an official warning letter to a private school in Punjab regarding the unwarranted increase in school fees. Cite specific rules from the Punjab Regulation of Fee of Unaided Educational Institutions </a:t>
            </a:r>
            <a:r>
              <a:rPr sz="1350" b="0" i="0" u="none" dirty="0" err="1">
                <a:solidFill>
                  <a:srgbClr val="333333"/>
                </a:solidFill>
                <a:latin typeface="Courier New"/>
              </a:rPr>
              <a:t>Act,and</a:t>
            </a:r>
            <a:r>
              <a:rPr sz="1350" b="0" i="0" u="none" dirty="0">
                <a:solidFill>
                  <a:srgbClr val="333333"/>
                </a:solidFill>
                <a:latin typeface="Courier New"/>
              </a:rPr>
              <a:t> reference at least two specific circular numbers issued by the Punjab State Education Department in 2024, along with a recent Punjab and Haryana High Court precedent."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1750" y="1657350"/>
            <a:ext cx="57150" cy="27432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C4A25A"/>
                </a:solidFill>
                <a:latin typeface="Montserrat"/>
              </a:rPr>
              <a:t>LIVE DEMO 1: The Confident Fabrication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C4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EB0A3C-5A72-1696-555A-EA4470C91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" y="3855983"/>
            <a:ext cx="2457450" cy="24574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B04A98-9F26-13E9-ECDB-4BCA2C86AE06}"/>
              </a:ext>
            </a:extLst>
          </p:cNvPr>
          <p:cNvSpPr txBox="1"/>
          <p:nvPr/>
        </p:nvSpPr>
        <p:spPr>
          <a:xfrm>
            <a:off x="3412331" y="5328745"/>
            <a:ext cx="768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you want to try it by your own, please scan the QR code for the prompt.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2562"/>
            <a:ext cx="11049000" cy="4905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50" y="5357812"/>
            <a:ext cx="99441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1" u="none">
                <a:solidFill>
                  <a:srgbClr val="334155"/>
                </a:solidFill>
                <a:latin typeface="Lato"/>
              </a:rPr>
              <a:t>A recent study (Walters &amp; Wilder, 2023) analyzing AI-generated literature searches found that a staggering 55% of citations provided by standard LLMs were entirely fabricated. For an administrator signing an official response, this represents critical institutional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00062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oppins"/>
              </a:rPr>
              <a:t>The Danger of Citation Fabrication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9287"/>
            <a:ext cx="3429000" cy="3971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19287"/>
            <a:ext cx="3429000" cy="3971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919287"/>
            <a:ext cx="3429000" cy="3971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986087"/>
            <a:ext cx="298037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1. Source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29062"/>
            <a:ext cx="28384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Is the document real? Never accept a citation, policy reference, or URL generated by an AI without independently navigating to the source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2986087"/>
            <a:ext cx="298037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2. Contextual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929062"/>
            <a:ext cx="28384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Does it support the claim? AI often summarizes complex data poorly, missing local nuances or fundamentally misinterpreting legal terminology.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2986087"/>
            <a:ext cx="298037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3A8A"/>
                </a:solidFill>
                <a:latin typeface="Poppins SemiBold"/>
              </a:rPr>
              <a:t>3. Human Judgment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929062"/>
            <a:ext cx="28384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Is it appropriate here? The higher the consequence of the decision, the stronger the mandatory human-in-the-loop verification protocol must be.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376487"/>
            <a:ext cx="4286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2376487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2376487"/>
            <a:ext cx="4762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oppins"/>
              </a:rPr>
              <a:t>The Verification Protocol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19750" y="1572666"/>
            <a:ext cx="952500" cy="38100"/>
          </a:xfrm>
          <a:prstGeom prst="rect">
            <a:avLst/>
          </a:prstGeom>
          <a:solidFill>
            <a:srgbClr val="C4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5300" y="1991766"/>
            <a:ext cx="1120140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>
                <a:solidFill>
                  <a:srgbClr val="FFFFFF"/>
                </a:solidFill>
                <a:latin typeface="Montserrat ExtraBold" panose="00000900000000000000" pitchFamily="2" charset="0"/>
              </a:rPr>
              <a:t>Challenge 2:</a:t>
            </a:r>
            <a:r>
              <a:rPr dirty="0">
                <a:latin typeface="Montserrat ExtraBold" panose="00000900000000000000" pitchFamily="2" charset="0"/>
              </a:rPr>
              <a:t>
</a:t>
            </a:r>
            <a:r>
              <a:rPr sz="4800" b="0" i="0" u="none" dirty="0">
                <a:solidFill>
                  <a:srgbClr val="FFFFFF"/>
                </a:solidFill>
                <a:latin typeface="Montserrat ExtraBold" panose="00000900000000000000" pitchFamily="2" charset="0"/>
              </a:rPr>
              <a:t> </a:t>
            </a:r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</a:rPr>
              <a:t>Academic integrity and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411116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Lato"/>
              </a:rPr>
              <a:t>The obsolescence of traditional assignments and the danger of false accusations.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5400" y="1466850"/>
            <a:ext cx="9601200" cy="224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sz="3150" b="1" i="0" u="none">
                <a:solidFill>
                  <a:srgbClr val="00205B"/>
                </a:solidFill>
                <a:latin typeface="Montserrat"/>
              </a:rPr>
              <a:t>"AI detectors frequently misclassify non-native English writing as AI-generated, with false positive rates reaching over 60% in standardized essay tests."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4825" y="3992760"/>
            <a:ext cx="3562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64748B"/>
                </a:solidFill>
                <a:latin typeface="Lato"/>
              </a:rPr>
              <a:t>— Stanford University Research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4535685"/>
            <a:ext cx="96012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3333"/>
                </a:solidFill>
                <a:latin typeface="Lato"/>
              </a:rPr>
              <a:t>If a Principal suspends a student based on a flawed commercial AI detector, the school is entirely exposed to parental disputes, RTI inquiries, and legal action. </a:t>
            </a:r>
            <a:r>
              <a:rPr sz="1650" b="1" i="0" u="none">
                <a:solidFill>
                  <a:srgbClr val="333333"/>
                </a:solidFill>
                <a:latin typeface="Lato"/>
              </a:rPr>
              <a:t>You cannot solve a technology problem with flawed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05B"/>
                </a:solidFill>
                <a:latin typeface="Montserrat"/>
              </a:rPr>
              <a:t>The Danger of False Accusations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ED216-5F29-31EB-B2DF-26CE82AB9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57" y="766415"/>
            <a:ext cx="10856686" cy="6091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30EBB-706C-DFD5-9F8A-1ABC3B399ABA}"/>
              </a:ext>
            </a:extLst>
          </p:cNvPr>
          <p:cNvSpPr txBox="1"/>
          <p:nvPr/>
        </p:nvSpPr>
        <p:spPr>
          <a:xfrm>
            <a:off x="667657" y="101598"/>
            <a:ext cx="849085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150" b="1" i="0" u="none" dirty="0">
                <a:solidFill>
                  <a:srgbClr val="C4A25A"/>
                </a:solidFill>
                <a:latin typeface="Montserrat"/>
              </a:rPr>
              <a:t>LIVE DEMO 2: The "AI Detector" Trap</a:t>
            </a:r>
          </a:p>
        </p:txBody>
      </p:sp>
    </p:spTree>
    <p:extLst>
      <p:ext uri="{BB962C8B-B14F-4D97-AF65-F5344CB8AC3E}">
        <p14:creationId xmlns:p14="http://schemas.microsoft.com/office/powerpoint/2010/main" val="3988894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9EA928-C7DA-C540-E7B9-CB3F509C8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" y="0"/>
            <a:ext cx="12183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41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AEB06-8AF3-9CAE-DAEF-E814D33E0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14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The wrong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3000" b="1">
                <a:solidFill>
                  <a:srgbClr val="A93939"/>
                </a:solidFill>
                <a:latin typeface="Aptos"/>
              </a:defRPr>
            </a:pPr>
            <a:r>
              <a:t>“Was AI used?”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82880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800" b="1">
                <a:solidFill>
                  <a:srgbClr val="717B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91640"/>
            <a:ext cx="51206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100" b="1">
                <a:solidFill>
                  <a:srgbClr val="121F31"/>
                </a:solidFill>
                <a:latin typeface="Aptos"/>
              </a:defRPr>
            </a:pPr>
            <a:r>
              <a:t>“How was AI used, and did it undermine the learning objective?”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3154680" cy="1600200"/>
          </a:xfrm>
          <a:prstGeom prst="roundRect">
            <a:avLst/>
          </a:prstGeom>
          <a:solidFill>
            <a:srgbClr val="E8F3E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59436" cy="1600200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584448"/>
            <a:ext cx="27706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1"/>
                </a:solidFill>
                <a:latin typeface="Aptos"/>
              </a:defRPr>
            </a:pPr>
            <a:r>
              <a:t>SUPPORTIVE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041648"/>
            <a:ext cx="2770632" cy="8503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20262E"/>
                </a:solidFill>
                <a:latin typeface="Aptos"/>
              </a:defRPr>
            </a:pPr>
            <a:r>
              <a:t>Brainstorming, explanation, practice,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429000"/>
            <a:ext cx="3154680" cy="1600200"/>
          </a:xfrm>
          <a:prstGeom prst="roundRect">
            <a:avLst/>
          </a:prstGeom>
          <a:solidFill>
            <a:srgbClr val="F9F3E2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3429000"/>
            <a:ext cx="59436" cy="1600200"/>
          </a:xfrm>
          <a:prstGeom prst="rect">
            <a:avLst/>
          </a:prstGeom>
          <a:solidFill>
            <a:srgbClr val="A67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3584448"/>
            <a:ext cx="27706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1"/>
                </a:solidFill>
                <a:latin typeface="Aptos"/>
              </a:defRPr>
            </a:pPr>
            <a:r>
              <a:t>CONTEXT-DEPENDENT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041648"/>
            <a:ext cx="2770632" cy="8503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20262E"/>
                </a:solidFill>
                <a:latin typeface="Aptos"/>
              </a:defRPr>
            </a:pPr>
            <a:r>
              <a:t>Editing, translation, drafting, coding assistance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429000"/>
            <a:ext cx="3154680" cy="160020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3429000"/>
            <a:ext cx="59436" cy="1600200"/>
          </a:xfrm>
          <a:prstGeom prst="rect">
            <a:avLst/>
          </a:prstGeom>
          <a:solidFill>
            <a:srgbClr val="A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3584448"/>
            <a:ext cx="27706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1"/>
                </a:solidFill>
                <a:latin typeface="Aptos"/>
              </a:defRPr>
            </a:pPr>
            <a:r>
              <a:t>POTENTIALLY UNDERMINING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041648"/>
            <a:ext cx="2770632" cy="8503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20262E"/>
                </a:solidFill>
                <a:latin typeface="Aptos"/>
              </a:defRPr>
            </a:pPr>
            <a:r>
              <a:t>Submitting generated work as one's own when independent work is the objective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AI detection is not the whole integrity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361188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9436" cy="3611880"/>
          </a:xfrm>
          <a:prstGeom prst="rect">
            <a:avLst/>
          </a:prstGeom>
          <a:solidFill>
            <a:srgbClr val="A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A detector score cannot establish by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4828032" cy="2862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t>Who produced the work</a:t>
            </a:r>
            <a:br/>
            <a:r>
              <a:t>How much AI was used</a:t>
            </a:r>
            <a:br/>
            <a:r>
              <a:t>Whether use violated the assignment rule</a:t>
            </a:r>
            <a:br/>
            <a:r>
              <a:t>Whether the detector is reliable in the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611880"/>
          </a:xfrm>
          <a:prstGeom prst="roundRect">
            <a:avLst/>
          </a:prstGeom>
          <a:solidFill>
            <a:srgbClr val="E8F3E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9436" cy="3611880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92807"/>
            <a:ext cx="478231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Stronger assessment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50008"/>
            <a:ext cx="4782312" cy="2862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t>Drafts and revision history</a:t>
            </a:r>
            <a:br/>
            <a:r>
              <a:t>Oral explanation</a:t>
            </a:r>
            <a:br/>
            <a:r>
              <a:t>Process-based assessment</a:t>
            </a:r>
            <a:br/>
            <a:r>
              <a:t>Source verification</a:t>
            </a:r>
            <a:br/>
            <a:r>
              <a:t>AI-use declaration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Indian academic integrity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79576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4E5968"/>
                </a:solidFill>
                <a:latin typeface="Aptos"/>
              </a:defRPr>
            </a:pPr>
            <a:r>
              <a:t>UGC Regulations, 2018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3566160"/>
          </a:xfrm>
          <a:prstGeom prst="roundRect">
            <a:avLst/>
          </a:prstGeom>
          <a:solidFill>
            <a:srgbClr val="E8F0F9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59436" cy="3566160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Existing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0008"/>
            <a:ext cx="4828032" cy="2816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t>The UGC regulations frame academic integrity around intellectual honesty in proposing, performing and reporting academic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66360" cy="3566160"/>
          </a:xfrm>
          <a:prstGeom prst="roundRect">
            <a:avLst/>
          </a:prstGeom>
          <a:solidFill>
            <a:srgbClr val="F9F3E2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9436" cy="3566160"/>
          </a:xfrm>
          <a:prstGeom prst="rect">
            <a:avLst/>
          </a:prstGeom>
          <a:solidFill>
            <a:srgbClr val="A67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892807"/>
            <a:ext cx="478231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New policy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0008"/>
            <a:ext cx="4782312" cy="2816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t>Institutions now need clear rules for permitted AI assistance, disclosure, attribution, assessment design and responsibility for final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" y="6422668"/>
            <a:ext cx="42316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720" b="0">
                <a:solidFill>
                  <a:srgbClr val="717B89"/>
                </a:solidFill>
                <a:latin typeface="Aptos"/>
              </a:defRPr>
            </a:pPr>
            <a:r>
              <a:rPr sz="800" dirty="0"/>
              <a:t>Source: UGC, Promotion of Academic Integrity and Prevention of Plagiarism Regulations, 2018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19750" y="1755427"/>
            <a:ext cx="952500" cy="38100"/>
          </a:xfrm>
          <a:prstGeom prst="rect">
            <a:avLst/>
          </a:prstGeom>
          <a:solidFill>
            <a:srgbClr val="C4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5300" y="2174527"/>
            <a:ext cx="11201400" cy="2228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FFFFFF"/>
                </a:solidFill>
                <a:latin typeface="Montserrat ExtraBold"/>
              </a:rPr>
              <a:t>Challenge 3:</a:t>
            </a:r>
            <a:r>
              <a:t>
</a:t>
            </a:r>
            <a:r>
              <a:rPr sz="4800" b="0" i="0" u="none">
                <a:solidFill>
                  <a:srgbClr val="FFFFFF"/>
                </a:solidFill>
                <a:latin typeface="Montserrat ExtraBold"/>
              </a:rPr>
              <a:t> Data Privacy &amp; The DPDP Act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0387" y="4593877"/>
            <a:ext cx="59912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Lato"/>
              </a:rPr>
              <a:t>Understanding institutional liability in the era of public LLMs.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66850"/>
            <a:ext cx="50482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66850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Under the Digital Personal Data Protection (DPDP) Act, educational institutions are classified as </a:t>
            </a:r>
            <a:r>
              <a:rPr sz="1500" b="1" i="0" u="none">
                <a:solidFill>
                  <a:srgbClr val="333333"/>
                </a:solidFill>
                <a:latin typeface="Lato"/>
              </a:rPr>
              <a:t>Data Fiduciaries</a:t>
            </a:r>
            <a:r>
              <a:rPr sz="1500" b="0" i="0" u="none">
                <a:solidFill>
                  <a:srgbClr val="333333"/>
                </a:solidFill>
                <a:latin typeface="La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2219325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You are legally responsible for the safekeeping of student Personally Identifiable Information (PII).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019425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Uploading student data into public LLMs (like free ChatGPT) means that data is used to train corporate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124325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Lato"/>
              </a:rPr>
              <a:t>Penalties:</a:t>
            </a:r>
            <a:r>
              <a:rPr sz="1500" b="0" i="0" u="none">
                <a:solidFill>
                  <a:srgbClr val="333333"/>
                </a:solidFill>
                <a:latin typeface="Lato"/>
              </a:rPr>
              <a:t> Data breaches or failure to observe reasonable security safeguards can invite penalties of up to ₹250 crore.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66850"/>
            <a:ext cx="504825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23837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4A25A"/>
                </a:solidFill>
                <a:latin typeface="Lato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3847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4A25A"/>
                </a:solidFill>
                <a:latin typeface="Lato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14337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4A25A"/>
                </a:solidFill>
                <a:latin typeface="Lato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05B"/>
                </a:solidFill>
                <a:latin typeface="Montserrat"/>
              </a:rPr>
              <a:t>The DPDP Act 2023 &amp; Schools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466850"/>
            <a:ext cx="53006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205B"/>
                </a:solidFill>
                <a:latin typeface="Montserrat"/>
              </a:rPr>
              <a:t>Efficiency vs.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33575"/>
            <a:ext cx="5048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Observe how quickly a well-intentioned teacher, trying to summarize a student report to save time, can inadvertently violate federal privacy laws.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990850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Once this data hits the prompt box, it leaves your institution's secure network permanently.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1750" y="1657350"/>
            <a:ext cx="5048250" cy="25527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67500" y="1943100"/>
            <a:ext cx="4476750" cy="1869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C4A25A"/>
                </a:solidFill>
                <a:latin typeface="Courier New"/>
              </a:rPr>
              <a:t>Prompt:</a:t>
            </a:r>
            <a:r>
              <a:rPr sz="1350" b="0" i="0" u="none" dirty="0">
                <a:solidFill>
                  <a:srgbClr val="333333"/>
                </a:solidFill>
                <a:latin typeface="Courier New"/>
              </a:rPr>
              <a:t> "Please summarize this student's progress report into a 3-sentence email to send to their parents: 'Student Name: Gurpreet Singh. Class: 9th B. Roll Number: 42. Medical notes: Diagnosed with ADHD, requires medication. Academic performance: Failing Mathematics, suspected of cheating. Behavioral notes: Frequently aggressive towards peers.'"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1750" y="1657350"/>
            <a:ext cx="57150" cy="25527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C4A25A"/>
                </a:solidFill>
                <a:latin typeface="Montserrat"/>
              </a:rPr>
              <a:t>LIVE DEMO 3: The Accidental PII Leak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C4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66850"/>
            <a:ext cx="50482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66850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Beyond academic integrity, administrators must prepare for the weaponization of AI by students.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24325"/>
            <a:ext cx="5048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05B"/>
                </a:solidFill>
                <a:latin typeface="Lato"/>
              </a:rPr>
              <a:t>Mitigation requires robust, verified digital communication channels and updated disciplinary codes that specifically address synthetic media.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219325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Lato"/>
              </a:rPr>
              <a:t>Cyberbullying:</a:t>
            </a:r>
            <a:r>
              <a:rPr sz="1500" b="0" i="0" u="none">
                <a:solidFill>
                  <a:srgbClr val="333333"/>
                </a:solidFill>
                <a:latin typeface="Lato"/>
              </a:rPr>
              <a:t> Easily generated synthetic, inappropriate images of classmates using social media photos.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019425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3333"/>
                </a:solidFill>
                <a:latin typeface="Lato"/>
              </a:rPr>
              <a:t>Authority Spoofing:</a:t>
            </a:r>
            <a:r>
              <a:rPr sz="1500" b="0" i="0" u="none">
                <a:solidFill>
                  <a:srgbClr val="333333"/>
                </a:solidFill>
                <a:latin typeface="Lato"/>
              </a:rPr>
              <a:t> Voice-cloned audio of teachers or principals issuing fake directives or using inappropriate language.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66850"/>
            <a:ext cx="504825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23837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4A25A"/>
                </a:solidFill>
                <a:latin typeface="Lato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3847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4A25A"/>
                </a:solidFill>
                <a:latin typeface="Lato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05B"/>
                </a:solidFill>
                <a:latin typeface="Montserrat"/>
              </a:rPr>
              <a:t>The Threat of Deepfakes &amp; Bullying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1371600" cy="1371600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71576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46888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2880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Governance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Individual experimentation is not the same as institutional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3611880"/>
          </a:xfrm>
          <a:prstGeom prst="roundRect">
            <a:avLst/>
          </a:prstGeom>
          <a:solidFill>
            <a:srgbClr val="E8F0F9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9436" cy="3611880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Individual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4828032" cy="1652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rPr dirty="0"/>
              <a:t>Teacher uses AI to brainstorm a lesson.</a:t>
            </a:r>
            <a:br>
              <a:rPr dirty="0"/>
            </a:br>
            <a:br>
              <a:rPr dirty="0"/>
            </a:br>
            <a:r>
              <a:rPr dirty="0"/>
              <a:t>Key questions:</a:t>
            </a:r>
            <a:br>
              <a:rPr dirty="0"/>
            </a:br>
            <a:r>
              <a:rPr dirty="0"/>
              <a:t>Accuracy </a:t>
            </a:r>
            <a:endParaRPr lang="en-US" dirty="0"/>
          </a:p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rPr lang="en-US" dirty="0"/>
              <a:t>A</a:t>
            </a:r>
            <a:r>
              <a:rPr dirty="0"/>
              <a:t>ppropriateness</a:t>
            </a:r>
            <a:endParaRPr lang="en-US" dirty="0"/>
          </a:p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rPr lang="en-US" dirty="0"/>
              <a:t>D</a:t>
            </a:r>
            <a:r>
              <a:rPr dirty="0"/>
              <a:t>ata handling</a:t>
            </a:r>
            <a:endParaRPr lang="en-US" dirty="0"/>
          </a:p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rPr lang="en-US" dirty="0"/>
              <a:t>P</a:t>
            </a:r>
            <a:r>
              <a:rPr dirty="0"/>
              <a:t>rofessional judgment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61188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9436" cy="3611880"/>
          </a:xfrm>
          <a:prstGeom prst="rect">
            <a:avLst/>
          </a:prstGeom>
          <a:solidFill>
            <a:srgbClr val="A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92807"/>
            <a:ext cx="478231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1"/>
                </a:solidFill>
                <a:latin typeface="Aptos"/>
              </a:defRPr>
            </a:pPr>
            <a:r>
              <a:t>Institutional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50008"/>
            <a:ext cx="4782312" cy="176048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rPr dirty="0"/>
              <a:t>College deploys AI for student support or assessment.</a:t>
            </a:r>
            <a:br>
              <a:rPr dirty="0"/>
            </a:br>
            <a:br>
              <a:rPr dirty="0"/>
            </a:br>
            <a:r>
              <a:rPr dirty="0"/>
              <a:t>Additional questions:</a:t>
            </a:r>
            <a:br>
              <a:rPr dirty="0"/>
            </a:br>
            <a:r>
              <a:rPr dirty="0"/>
              <a:t>Procurement</a:t>
            </a:r>
            <a:endParaRPr lang="en-US" dirty="0"/>
          </a:p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rPr lang="en-US" dirty="0"/>
              <a:t>P</a:t>
            </a:r>
            <a:r>
              <a:rPr dirty="0"/>
              <a:t>rivacy</a:t>
            </a:r>
            <a:endParaRPr lang="en-US" dirty="0"/>
          </a:p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rPr lang="en-US" dirty="0"/>
              <a:t>A</a:t>
            </a:r>
            <a:r>
              <a:rPr dirty="0"/>
              <a:t>ccessibility</a:t>
            </a:r>
            <a:endParaRPr lang="en-US" dirty="0"/>
          </a:p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rPr lang="en-US" dirty="0"/>
              <a:t>M</a:t>
            </a:r>
            <a:r>
              <a:rPr dirty="0"/>
              <a:t>onitoring</a:t>
            </a:r>
            <a:endParaRPr lang="en-US" dirty="0"/>
          </a:p>
          <a:p>
            <a:pPr algn="l">
              <a:defRPr sz="1400" b="0">
                <a:solidFill>
                  <a:srgbClr val="20262E"/>
                </a:solidFill>
                <a:latin typeface="Aptos"/>
              </a:defRPr>
            </a:pPr>
            <a:r>
              <a:rPr lang="en-US" dirty="0"/>
              <a:t>A</a:t>
            </a:r>
            <a:r>
              <a:rPr dirty="0"/>
              <a:t>ccountability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t>What should an institutional AI policy answer?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9436" cy="7498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01  What uses are allowed?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9436" cy="749808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75564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02  What uses are restricted?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6032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59436" cy="7498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71576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03  What uses are prohibited?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032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560320"/>
            <a:ext cx="59436" cy="749808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271576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04  What data may be entered?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4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20440"/>
            <a:ext cx="59436" cy="7498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67588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05  Who verifies AI output?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2044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520440"/>
            <a:ext cx="59436" cy="749808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67588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06  Where is human approval mandatory?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8056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480560"/>
            <a:ext cx="59436" cy="7498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463600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07  How should AI use be disclosed?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80560"/>
            <a:ext cx="5212080" cy="749808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480560"/>
            <a:ext cx="59436" cy="749808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4636008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21F31"/>
                </a:solidFill>
                <a:latin typeface="Aptos"/>
              </a:defRPr>
            </a:pPr>
            <a:r>
              <a:t>08  Who remains accountable?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524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700" b="1">
                <a:solidFill>
                  <a:srgbClr val="121F31"/>
                </a:solidFill>
                <a:latin typeface="Aptos Display"/>
              </a:defRPr>
            </a:pPr>
            <a:r>
              <a:rPr dirty="0"/>
              <a:t>UNESCO: </a:t>
            </a:r>
            <a:r>
              <a:rPr lang="en-US" dirty="0"/>
              <a:t>A</a:t>
            </a:r>
            <a:r>
              <a:rPr dirty="0"/>
              <a:t> </a:t>
            </a:r>
            <a:r>
              <a:rPr lang="en-US" dirty="0"/>
              <a:t>H</a:t>
            </a:r>
            <a:r>
              <a:rPr dirty="0"/>
              <a:t>uman-</a:t>
            </a:r>
            <a:r>
              <a:rPr lang="en-US" dirty="0"/>
              <a:t>Centered</a:t>
            </a:r>
            <a:r>
              <a:rPr dirty="0"/>
              <a:t> </a:t>
            </a:r>
            <a:r>
              <a:rPr lang="en-US" dirty="0"/>
              <a:t>A</a:t>
            </a:r>
            <a:r>
              <a:rPr dirty="0"/>
              <a:t>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383280" cy="3566160"/>
          </a:xfrm>
          <a:prstGeom prst="roundRect">
            <a:avLst/>
          </a:prstGeom>
          <a:solidFill>
            <a:srgbClr val="E8F0F9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9436" cy="3566160"/>
          </a:xfrm>
          <a:prstGeom prst="rect">
            <a:avLst/>
          </a:prstGeom>
          <a:solidFill>
            <a:srgbClr val="25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29992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121F31"/>
                </a:solidFill>
                <a:latin typeface="Aptos"/>
              </a:defRPr>
            </a:pPr>
            <a:r>
              <a:t>HUMAN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2999232" cy="2816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t>Keep meaningful human control over consequential educational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3566160"/>
          </a:xfrm>
          <a:prstGeom prst="roundRect">
            <a:avLst/>
          </a:prstGeom>
          <a:solidFill>
            <a:srgbClr val="F9F3E2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59436" cy="3566160"/>
          </a:xfrm>
          <a:prstGeom prst="rect">
            <a:avLst/>
          </a:prstGeom>
          <a:solidFill>
            <a:srgbClr val="A67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892807"/>
            <a:ext cx="29992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121F31"/>
                </a:solidFill>
                <a:latin typeface="Aptos"/>
              </a:defRPr>
            </a:pPr>
            <a:r>
              <a:t>RIGHTS &amp;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50008"/>
            <a:ext cx="2999232" cy="2816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t>Protect privacy, consider inclusion and equity, and mitigate foreseeable harms.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737360"/>
            <a:ext cx="3383280" cy="3566160"/>
          </a:xfrm>
          <a:prstGeom prst="roundRect">
            <a:avLst/>
          </a:prstGeom>
          <a:solidFill>
            <a:srgbClr val="E8F3E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737360"/>
            <a:ext cx="59436" cy="3566160"/>
          </a:xfrm>
          <a:prstGeom prst="rect">
            <a:avLst/>
          </a:prstGeom>
          <a:solidFill>
            <a:srgbClr val="327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1892807"/>
            <a:ext cx="2999232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121F31"/>
                </a:solidFill>
                <a:latin typeface="Aptos"/>
              </a:defRPr>
            </a:pPr>
            <a:r>
              <a:t>INSTITUTIONAL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350008"/>
            <a:ext cx="2999232" cy="2816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20262E"/>
                </a:solidFill>
                <a:latin typeface="Aptos"/>
              </a:defRPr>
            </a:pPr>
            <a:r>
              <a:t>Validate tools, build capacity and establish coherent policy before scaling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5947"/>
            <a:ext cx="3319272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720" b="0">
                <a:solidFill>
                  <a:srgbClr val="717B89"/>
                </a:solidFill>
                <a:latin typeface="Aptos"/>
              </a:defRPr>
            </a:pPr>
            <a:r>
              <a:rPr sz="800" dirty="0"/>
              <a:t>Source: UNESCO Guidance for Generative AI in Education and Research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466850"/>
          <a:ext cx="10334625" cy="3476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0205B"/>
                          </a:solidFill>
                          <a:latin typeface="Lato"/>
                        </a:rPr>
                        <a:t>Administrative Use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0205B"/>
                          </a:solidFill>
                          <a:latin typeface="Lato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0205B"/>
                          </a:solidFill>
                          <a:latin typeface="Lato"/>
                        </a:rPr>
                        <a:t>Governance Note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Drafting Generic Lesson Plans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3333"/>
                          </a:solidFill>
                          <a:latin typeface="Lato"/>
                        </a:rPr>
                        <a:t>Safe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No PII involved. Excellent tool for structuring frameworks.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Summarizing Disciplinary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3333"/>
                          </a:solidFill>
                          <a:latin typeface="Lato"/>
                        </a:rPr>
                        <a:t>Unsafe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Severe DPDP Act violation. PII ingested by third-parties.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Translating State Circulars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3333"/>
                          </a:solidFill>
                          <a:latin typeface="Lato"/>
                        </a:rPr>
                        <a:t>Verify</a:t>
                      </a:r>
                    </a:p>
                  </a:txBody>
                  <a:tcPr marL="3048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Requires strict human verification to prevent hallucinations.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Uploading Exams for Auto-Grading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3333"/>
                          </a:solidFill>
                          <a:latin typeface="Lato"/>
                        </a:rPr>
                        <a:t>Unsafe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3333"/>
                          </a:solidFill>
                          <a:latin typeface="Lato"/>
                        </a:rPr>
                        <a:t>Compromises student privacy and intellectual property of the exam.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62000" y="2147887"/>
            <a:ext cx="3276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38600" y="2147887"/>
            <a:ext cx="116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00650" y="2147887"/>
            <a:ext cx="5895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843212"/>
            <a:ext cx="3276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38600" y="2843212"/>
            <a:ext cx="116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00650" y="2843212"/>
            <a:ext cx="5895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000" y="3538537"/>
            <a:ext cx="3276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38600" y="3538537"/>
            <a:ext cx="116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0650" y="3538537"/>
            <a:ext cx="5895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2000" y="4233862"/>
            <a:ext cx="3276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38600" y="4233862"/>
            <a:ext cx="116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00650" y="4233862"/>
            <a:ext cx="5895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2000" y="4929187"/>
            <a:ext cx="3276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38600" y="4929187"/>
            <a:ext cx="116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00650" y="4929187"/>
            <a:ext cx="5895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323" y="2419350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323" y="3114675"/>
            <a:ext cx="1428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323" y="3810000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323" y="4505325"/>
            <a:ext cx="142875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05B"/>
                </a:solidFill>
                <a:latin typeface="Montserrat"/>
              </a:rPr>
              <a:t>Administrative Matrix: AI Usage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1371600" cy="1371600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s/check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7157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23160" y="2561048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Do?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FB4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822960" cy="822960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6187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If you shape policy…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0058400" cy="3657600"/>
          </a:xfrm>
          <a:prstGeom prst="roundRect">
            <a:avLst>
              <a:gd name="adj" fmla="val 2500"/>
            </a:avLst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51560" y="2423160"/>
            <a:ext cx="9235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Require every institution to have a written AI-use policy — not just a verbal norm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Mandate teacher training before any AI tool is approved for classroom use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Ask vendors for a clear data-processing disclosure, not just a compliance checkbox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 up a grievance and audit mechanism for AI-related complaints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FB4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822960" cy="822960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6187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If you run a classroom…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0058400" cy="3657600"/>
          </a:xfrm>
          <a:prstGeom prst="roundRect">
            <a:avLst>
              <a:gd name="adj" fmla="val 2500"/>
            </a:avLst>
          </a:prstGeom>
          <a:solidFill>
            <a:srgbClr val="1E21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51560" y="2423160"/>
            <a:ext cx="9235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Never treat an AI-detector score as final proof — verify, discuss, then decide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Teach students to disclose AI use, not just avoid getting caught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thoughtful AI use yourself, rather than banning it outright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40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Watch for early signs of over-reliance, not just plagiarism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3448050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660" y="3752850"/>
            <a:ext cx="2576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0205B"/>
                </a:solidFill>
                <a:latin typeface="Montserrat"/>
              </a:rPr>
              <a:t>Day 1-15: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52900"/>
            <a:ext cx="245358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Conduct an anonymous survey of faculty to assess current undisclosed AI usage and tool preferences.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38800" y="1419225"/>
            <a:ext cx="2576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0205B"/>
                </a:solidFill>
                <a:latin typeface="Montserrat"/>
              </a:rPr>
              <a:t>Day 15-45: Draft AUP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139" y="1819275"/>
            <a:ext cx="245358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Develop an Acceptable Use Policy defining permissible tools, DPDP boundaries, and academic protocols.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6940" y="3752850"/>
            <a:ext cx="2576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0205B"/>
                </a:solidFill>
                <a:latin typeface="Montserrat"/>
              </a:rPr>
              <a:t>Day 45-60: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279" y="4152900"/>
            <a:ext cx="245358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Conduct mandatory capacity-building workshops for staff on prompt engineering and hallucination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080" y="1230537"/>
            <a:ext cx="2576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0205B"/>
                </a:solidFill>
                <a:latin typeface="Montserrat"/>
              </a:rPr>
              <a:t>Day 60-90: 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6419" y="1514475"/>
            <a:ext cx="245358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3333"/>
                </a:solidFill>
                <a:latin typeface="Lato"/>
              </a:rPr>
              <a:t>Redesign core examination architectures to prioritize in-person, viva-voce, and analytical testing methodologies.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05B"/>
                </a:solidFill>
                <a:latin typeface="Montserrat"/>
              </a:rPr>
              <a:t>90-Day Policy Implementation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11620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74490" y="3352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4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12630" y="3352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4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50769" y="3352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4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88909" y="3352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C4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97280" y="2377440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dirty="0">
                <a:solidFill>
                  <a:srgbClr val="9A9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safest classroom isn't the one without AI.
</a:t>
            </a: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one that knows </a:t>
            </a:r>
            <a:r>
              <a:rPr lang="en-US" sz="360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how it's being used.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2876536"/>
            <a:ext cx="1120140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 dirty="0">
                <a:solidFill>
                  <a:srgbClr val="00205B"/>
                </a:solidFill>
                <a:latin typeface="Montserrat ExtraBold"/>
              </a:rPr>
              <a:t>Questions &amp; Discussion</a:t>
            </a:r>
          </a:p>
        </p:txBody>
      </p:sp>
      <p:pic>
        <p:nvPicPr>
          <p:cNvPr id="7" name="Image 0" descr="/home/claude/icons/message.png">
            <a:extLst>
              <a:ext uri="{FF2B5EF4-FFF2-40B4-BE49-F238E27FC236}">
                <a16:creationId xmlns:a16="http://schemas.microsoft.com/office/drawing/2014/main" id="{C258A2D2-DD46-9280-7316-97F652300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20" y="1139132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201168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2197</Words>
  <Application>Microsoft Office PowerPoint</Application>
  <PresentationFormat>Widescreen</PresentationFormat>
  <Paragraphs>244</Paragraphs>
  <Slides>39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Cambria</vt:lpstr>
      <vt:lpstr>Courier New</vt:lpstr>
      <vt:lpstr>Lato</vt:lpstr>
      <vt:lpstr>Montserrat</vt:lpstr>
      <vt:lpstr>Montserrat ExtraBold</vt:lpstr>
      <vt:lpstr>Poppins</vt:lpstr>
      <vt:lpstr>Poppins SemiBold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Diganta  Bose</dc:creator>
  <cp:lastModifiedBy>Diganta  Bose</cp:lastModifiedBy>
  <cp:revision>32</cp:revision>
  <dcterms:created xsi:type="dcterms:W3CDTF">2026-09-08T02:25:46Z</dcterms:created>
  <dcterms:modified xsi:type="dcterms:W3CDTF">2026-09-09T03:24:54Z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2026-09-08T02:37:10Z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c9935280-52da-4397-bab3-4514f795241a</vt:lpwstr>
  </property>
  <property fmtid="{D5CDD505-2E9C-101B-9397-08002B2CF9AE}" pid="7" name="MSIP_Label_defa4170-0d19-0005-0004-bc88714345d2_ActionId">
    <vt:lpwstr>fde09564-e74f-40e2-98fc-37724f8c17f8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